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jpg"/><Relationship Id="rId3" Type="http://schemas.openxmlformats.org/officeDocument/2006/relationships/image" Target="../media/image-3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jpg"/><Relationship Id="rId3" Type="http://schemas.openxmlformats.org/officeDocument/2006/relationships/image" Target="../media/image-4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jpg"/><Relationship Id="rId3" Type="http://schemas.openxmlformats.org/officeDocument/2006/relationships/image" Target="../media/image-10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image" Target="../media/image-11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07F2A"/>
          </a:solidFill>
          <a:ln w="12700">
            <a:solidFill>
              <a:srgbClr val="F07F2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41148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07F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DRIVE HUB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71323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246120" y="411480"/>
            <a:ext cx="0" cy="548640"/>
          </a:xfrm>
          <a:prstGeom prst="line">
            <a:avLst/>
          </a:prstGeom>
          <a:noFill/>
          <a:ln w="9525">
            <a:solidFill>
              <a:srgbClr val="55555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429000" y="4114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AutoHub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41732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07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 HUB GLOBAL / MARKETING + INFLUENCER PORTFOLIO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17830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Cars start</a:t>
            </a:r>
            <a:endParaRPr lang="en-US" sz="64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256032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conversation.</a:t>
            </a:r>
            <a:endParaRPr lang="en-US" sz="64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33375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07F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People carry it.</a:t>
            </a:r>
            <a:endParaRPr lang="en-US" sz="64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4279392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Campaigns organised by Drive Hub Global. Automotive stories that connect brands and communities.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4846320"/>
            <a:ext cx="11247120" cy="1005840"/>
          </a:xfrm>
          <a:prstGeom prst="rect">
            <a:avLst/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" y="489204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3.22M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5413248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00" kern="0" dirty="0">
                <a:solidFill>
                  <a:srgbClr val="F07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VIEWS*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4206240" y="4983480"/>
            <a:ext cx="0" cy="731520"/>
          </a:xfrm>
          <a:prstGeom prst="line">
            <a:avLst/>
          </a:prstGeom>
          <a:noFill/>
          <a:ln w="9525">
            <a:solidFill>
              <a:srgbClr val="55555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206240" y="489204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71.6K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4206240" y="5413248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00" kern="0" dirty="0">
                <a:solidFill>
                  <a:srgbClr val="F07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REACTIONS*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7955280" y="4983480"/>
            <a:ext cx="0" cy="731520"/>
          </a:xfrm>
          <a:prstGeom prst="line">
            <a:avLst/>
          </a:prstGeom>
          <a:noFill/>
          <a:ln w="9525">
            <a:solidFill>
              <a:srgbClr val="555555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955280" y="489204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3000" dirty="0"/>
          </a:p>
        </p:txBody>
      </p:sp>
      <p:sp>
        <p:nvSpPr>
          <p:cNvPr id="21" name="Text 19"/>
          <p:cNvSpPr txBox="1"/>
          <p:nvPr/>
        </p:nvSpPr>
        <p:spPr>
          <a:xfrm>
            <a:off x="7955280" y="5413248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00" kern="0" dirty="0">
                <a:solidFill>
                  <a:srgbClr val="F07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AUTOMOTIVE BRANDS</a:t>
            </a:r>
            <a:endParaRPr lang="en-US" sz="85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5989320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07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BRAND VIDEOS + 2 DRIVE HUB GLOBAL CAMPAIGN EXAMPLES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6199632"/>
            <a:ext cx="10515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*Totals cover the original 14 AutoHub videos only. Public Facebook preview counts checked 23 Oct 2026; views are not unique reach.</a:t>
            </a:r>
            <a:endParaRPr lang="en-US" sz="750" dirty="0"/>
          </a:p>
        </p:txBody>
      </p:sp>
      <p:sp>
        <p:nvSpPr>
          <p:cNvPr id="24" name="Text 22"/>
          <p:cNvSpPr txBox="1"/>
          <p:nvPr/>
        </p:nvSpPr>
        <p:spPr>
          <a:xfrm>
            <a:off x="9875520" y="644652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/ 11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07F2A"/>
          </a:solidFill>
          <a:ln w="12700">
            <a:solidFill>
              <a:srgbClr val="F07F2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320040"/>
            <a:ext cx="914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07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DOES WHAT / OUR INFLUENCE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640080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connected community.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234440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Clear business roles.</a:t>
            </a:r>
            <a:endParaRPr lang="en-US" sz="38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938528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 Hub Global organises and runs the campaigns in this portfolio through its influencer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programme, working with selected creators and automotive audiences.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2651760"/>
            <a:ext cx="11247120" cy="1188720"/>
          </a:xfrm>
          <a:prstGeom prst="rect">
            <a:avLst/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2816352"/>
            <a:ext cx="10881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07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 HUB GLOBAL (PVT) LTD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303580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Marketing agency + campaign organiser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3429000"/>
            <a:ext cx="10881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Campaign planning, influencer coordination and marketing execution.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950208"/>
            <a:ext cx="11247120" cy="1051560"/>
          </a:xfrm>
          <a:prstGeom prst="rect">
            <a:avLst/>
          </a:prstGeom>
          <a:solidFill>
            <a:srgbClr val="E8E2D9"/>
          </a:solidFill>
          <a:ln w="12700">
            <a:solidFill>
              <a:srgbClr val="E8E2D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4114800"/>
            <a:ext cx="10881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DRIVEHUB PVT LTD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4334256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Engineering + vehicle inspection services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4727448"/>
            <a:ext cx="10881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engineering and inspection arm, with a distinct service focus.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5138928"/>
            <a:ext cx="914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07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INFLUENCER PROGRAMME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5376672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Proactive creators.</a:t>
            </a:r>
            <a:endParaRPr lang="en-US" sz="38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5971032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Relevant voices. Shared curiosity.</a:t>
            </a:r>
            <a:endParaRPr lang="en-US" sz="3800" dirty="0"/>
          </a:p>
        </p:txBody>
      </p:sp>
      <p:sp>
        <p:nvSpPr>
          <p:cNvPr id="19" name="Shape 17"/>
          <p:cNvSpPr/>
          <p:nvPr/>
        </p:nvSpPr>
        <p:spPr>
          <a:xfrm>
            <a:off x="457200" y="6355080"/>
            <a:ext cx="11247120" cy="0"/>
          </a:xfrm>
          <a:prstGeom prst="line">
            <a:avLst/>
          </a:prstGeom>
          <a:noFill/>
          <a:ln w="6350">
            <a:solidFill>
              <a:srgbClr val="E8E2D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57200" y="644652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 HUB GLOBAL + AUTOHUB / SELECTED WORK</a:t>
            </a:r>
            <a:endParaRPr lang="en-US" sz="800" dirty="0"/>
          </a:p>
        </p:txBody>
      </p:sp>
      <p:sp>
        <p:nvSpPr>
          <p:cNvPr id="21" name="Text 19"/>
          <p:cNvSpPr txBox="1"/>
          <p:nvPr/>
        </p:nvSpPr>
        <p:spPr>
          <a:xfrm>
            <a:off x="9601200" y="6446520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11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07F2A"/>
          </a:solidFill>
          <a:ln w="12700">
            <a:solidFill>
              <a:srgbClr val="F07F2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3200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07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 HUB GLOBAL / INFLUENCER CAMPAIGN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640080"/>
            <a:ext cx="5943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Launch moments.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234440"/>
            <a:ext cx="5943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around people.</a:t>
            </a:r>
            <a:endParaRPr lang="en-US" sz="38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92024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Bajaj electric three-wheeler launch coverage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published by Drive Hub Global.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2560320"/>
            <a:ext cx="5303520" cy="777240"/>
          </a:xfrm>
          <a:prstGeom prst="rect">
            <a:avLst/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2724912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07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CAMPAIGN ORGANISED + RUN BY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294436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Drive Hub Global Influencer Programme</a:t>
            </a:r>
            <a:endParaRPr lang="en-US" sz="1800" dirty="0"/>
          </a:p>
        </p:txBody>
      </p:sp>
      <p:pic>
        <p:nvPicPr>
          <p:cNvPr id="11" name="Image 0" descr="/tmp/claude-0/-home-user-Bajaj-Model-Retail-Engine/1624ea0e-43c6-5f81-8390-e0cc3ac23fa3/scratchpad/pdf_images/img-013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3520440"/>
            <a:ext cx="3611880" cy="1399032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457200" y="4974336"/>
            <a:ext cx="3611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STILL / 00:08</a:t>
            </a:r>
            <a:endParaRPr lang="en-US" sz="850" dirty="0"/>
          </a:p>
        </p:txBody>
      </p:sp>
      <p:pic>
        <p:nvPicPr>
          <p:cNvPr id="13" name="Image 1" descr="/tmp/claude-0/-home-user-Bajaj-Model-Retail-Engine/1624ea0e-43c6-5f81-8390-e0cc3ac23fa3/scratchpad/pdf_images/img-014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160520" y="3520440"/>
            <a:ext cx="3611880" cy="1399032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4160520" y="4974336"/>
            <a:ext cx="3611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STILL / 00:26</a:t>
            </a:r>
            <a:endParaRPr lang="en-US" sz="850" dirty="0"/>
          </a:p>
        </p:txBody>
      </p:sp>
      <p:pic>
        <p:nvPicPr>
          <p:cNvPr id="15" name="Image 2" descr="/tmp/claude-0/-home-user-Bajaj-Model-Retail-Engine/1624ea0e-43c6-5f81-8390-e0cc3ac23fa3/scratchpad/pdf_images/img-015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7863840" y="3520440"/>
            <a:ext cx="3611880" cy="139903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7863840" y="4974336"/>
            <a:ext cx="3611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STILL / 00:45</a:t>
            </a:r>
            <a:endParaRPr lang="en-US" sz="850" dirty="0"/>
          </a:p>
        </p:txBody>
      </p:sp>
      <p:sp>
        <p:nvSpPr>
          <p:cNvPr id="17" name="Text 12"/>
          <p:cNvSpPr txBox="1"/>
          <p:nvPr/>
        </p:nvSpPr>
        <p:spPr>
          <a:xfrm>
            <a:off x="457200" y="56509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07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MARKETING ROLE</a:t>
            </a:r>
            <a:endParaRPr lang="en-US" sz="900" dirty="0"/>
          </a:p>
        </p:txBody>
      </p:sp>
      <p:sp>
        <p:nvSpPr>
          <p:cNvPr id="18" name="Text 13"/>
          <p:cNvSpPr txBox="1"/>
          <p:nvPr/>
        </p:nvSpPr>
        <p:spPr>
          <a:xfrm>
            <a:off x="457200" y="5833872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 Hub Global organised and ran this campaign through its influencer programme, using selected creators to connect the product launch with relevant audiences and community conversations.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457200" y="6355080"/>
            <a:ext cx="11247120" cy="0"/>
          </a:xfrm>
          <a:prstGeom prst="line">
            <a:avLst/>
          </a:prstGeom>
          <a:noFill/>
          <a:ln w="6350">
            <a:solidFill>
              <a:srgbClr val="E8E2D9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457200" y="644652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 HUB GLOBAL + AUTOHUB / SELECTED WORK</a:t>
            </a:r>
            <a:endParaRPr lang="en-US" sz="800" dirty="0"/>
          </a:p>
        </p:txBody>
      </p:sp>
      <p:sp>
        <p:nvSpPr>
          <p:cNvPr id="21" name="Text 16"/>
          <p:cNvSpPr txBox="1"/>
          <p:nvPr/>
        </p:nvSpPr>
        <p:spPr>
          <a:xfrm>
            <a:off x="9601200" y="6446520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11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07F2A"/>
          </a:solidFill>
          <a:ln w="12700">
            <a:solidFill>
              <a:srgbClr val="F07F2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3200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07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 HUB GLOBAL / INFLUENCER CAMPAIGN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640080"/>
            <a:ext cx="5943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product story.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234440"/>
            <a:ext cx="5943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wider conversation.</a:t>
            </a:r>
            <a:endParaRPr lang="en-US" sz="38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9202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Bajaj Chetak campaign content published by Drive Hub Global.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2423160"/>
            <a:ext cx="5303520" cy="777240"/>
          </a:xfrm>
          <a:prstGeom prst="rect">
            <a:avLst/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2587752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07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CAMPAIGN ORGANISED + RUN BY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280720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Drive Hub Global Influencer Programme</a:t>
            </a:r>
            <a:endParaRPr lang="en-US" sz="1800" dirty="0"/>
          </a:p>
        </p:txBody>
      </p:sp>
      <p:pic>
        <p:nvPicPr>
          <p:cNvPr id="11" name="Image 0" descr="/tmp/claude-0/-home-user-Bajaj-Model-Retail-Engine/1624ea0e-43c6-5f81-8390-e0cc3ac23fa3/scratchpad/pdf_images/img-018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3383280"/>
            <a:ext cx="3611880" cy="1645920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457200" y="5084064"/>
            <a:ext cx="3611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STILL / 00:12</a:t>
            </a:r>
            <a:endParaRPr lang="en-US" sz="850" dirty="0"/>
          </a:p>
        </p:txBody>
      </p:sp>
      <p:pic>
        <p:nvPicPr>
          <p:cNvPr id="13" name="Image 1" descr="/tmp/claude-0/-home-user-Bajaj-Model-Retail-Engine/1624ea0e-43c6-5f81-8390-e0cc3ac23fa3/scratchpad/pdf_images/img-019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160520" y="3383280"/>
            <a:ext cx="3611880" cy="164592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4160520" y="5084064"/>
            <a:ext cx="3611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STILL / 00:52</a:t>
            </a:r>
            <a:endParaRPr lang="en-US" sz="850" dirty="0"/>
          </a:p>
        </p:txBody>
      </p:sp>
      <p:pic>
        <p:nvPicPr>
          <p:cNvPr id="15" name="Image 2" descr="/tmp/claude-0/-home-user-Bajaj-Model-Retail-Engine/1624ea0e-43c6-5f81-8390-e0cc3ac23fa3/scratchpad/pdf_images/img-020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7863840" y="3383280"/>
            <a:ext cx="3611880" cy="16459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7863840" y="5084064"/>
            <a:ext cx="3611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STILL / 01:38</a:t>
            </a:r>
            <a:endParaRPr lang="en-US" sz="850" dirty="0"/>
          </a:p>
        </p:txBody>
      </p:sp>
      <p:sp>
        <p:nvSpPr>
          <p:cNvPr id="17" name="Text 12"/>
          <p:cNvSpPr txBox="1"/>
          <p:nvPr/>
        </p:nvSpPr>
        <p:spPr>
          <a:xfrm>
            <a:off x="457200" y="53492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07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MARKETING ROLE</a:t>
            </a:r>
            <a:endParaRPr lang="en-US" sz="900" dirty="0"/>
          </a:p>
        </p:txBody>
      </p:sp>
      <p:sp>
        <p:nvSpPr>
          <p:cNvPr id="18" name="Text 13"/>
          <p:cNvSpPr txBox="1"/>
          <p:nvPr/>
        </p:nvSpPr>
        <p:spPr>
          <a:xfrm>
            <a:off x="457200" y="55321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campaign reflects Drive Hub Global's role as the marketing agency: organising influencer participation and coordinating content that brings a vehicle into the audience's everyday conversation.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457200" y="6080760"/>
            <a:ext cx="11247120" cy="502920"/>
          </a:xfrm>
          <a:prstGeom prst="rect">
            <a:avLst/>
          </a:prstGeom>
          <a:solidFill>
            <a:srgbClr val="F5F0E8"/>
          </a:solidFill>
          <a:ln w="6350">
            <a:solidFill>
              <a:srgbClr val="E8E2D9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594360" y="6144768"/>
            <a:ext cx="365760" cy="365760"/>
          </a:xfrm>
          <a:prstGeom prst="ellipse">
            <a:avLst/>
          </a:prstGeom>
          <a:solidFill>
            <a:srgbClr val="F07F2A"/>
          </a:solidFill>
          <a:ln w="12700">
            <a:solidFill>
              <a:srgbClr val="F07F2A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594360" y="61447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200" dirty="0"/>
          </a:p>
        </p:txBody>
      </p:sp>
      <p:sp>
        <p:nvSpPr>
          <p:cNvPr id="22" name="Text 17"/>
          <p:cNvSpPr txBox="1"/>
          <p:nvPr/>
        </p:nvSpPr>
        <p:spPr>
          <a:xfrm>
            <a:off x="1051560" y="6144768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THE CAMPAIGN</a:t>
            </a:r>
            <a:endParaRPr lang="en-US" sz="1000" dirty="0"/>
          </a:p>
        </p:txBody>
      </p:sp>
      <p:sp>
        <p:nvSpPr>
          <p:cNvPr id="23" name="Text 18"/>
          <p:cNvSpPr txBox="1"/>
          <p:nvPr/>
        </p:nvSpPr>
        <p:spPr>
          <a:xfrm>
            <a:off x="1051560" y="6336792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Published on Drive Hub Global / Facebook</a:t>
            </a:r>
            <a:endParaRPr lang="en-US" sz="850" dirty="0"/>
          </a:p>
        </p:txBody>
      </p:sp>
      <p:sp>
        <p:nvSpPr>
          <p:cNvPr id="24" name="Shape 19"/>
          <p:cNvSpPr/>
          <p:nvPr/>
        </p:nvSpPr>
        <p:spPr>
          <a:xfrm>
            <a:off x="457200" y="6355080"/>
            <a:ext cx="11247120" cy="0"/>
          </a:xfrm>
          <a:prstGeom prst="line">
            <a:avLst/>
          </a:prstGeom>
          <a:noFill/>
          <a:ln w="6350">
            <a:solidFill>
              <a:srgbClr val="E8E2D9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457200" y="644652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 HUB GLOBAL + AUTOHUB / SELECTED WORK</a:t>
            </a:r>
            <a:endParaRPr lang="en-US" sz="800" dirty="0"/>
          </a:p>
        </p:txBody>
      </p:sp>
      <p:sp>
        <p:nvSpPr>
          <p:cNvPr id="26" name="Text 21"/>
          <p:cNvSpPr txBox="1"/>
          <p:nvPr/>
        </p:nvSpPr>
        <p:spPr>
          <a:xfrm>
            <a:off x="9601200" y="6446520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11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07F2A"/>
          </a:solidFill>
          <a:ln w="12700">
            <a:solidFill>
              <a:srgbClr val="F07F2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3200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07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COLLABORATION / MERCEDES-BENZ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640080"/>
            <a:ext cx="9144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Premium motoring.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234440"/>
            <a:ext cx="9144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Everyday conversation.</a:t>
            </a:r>
            <a:endParaRPr lang="en-US" sz="38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901952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Selected Mercedes-Benz content, from a model spotlight to the CLA's latest screen experience.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2441448"/>
            <a:ext cx="1005840" cy="1005840"/>
          </a:xfrm>
          <a:prstGeom prst="ellipse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441448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2800" dirty="0"/>
          </a:p>
        </p:txBody>
      </p:sp>
      <p:sp>
        <p:nvSpPr>
          <p:cNvPr id="10" name="Text 8"/>
          <p:cNvSpPr txBox="1"/>
          <p:nvPr/>
        </p:nvSpPr>
        <p:spPr>
          <a:xfrm>
            <a:off x="1600200" y="2697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MERCEDES-BENZ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457200" y="3584448"/>
            <a:ext cx="11247120" cy="1005840"/>
          </a:xfrm>
          <a:prstGeom prst="rect">
            <a:avLst/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3630168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92K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4151376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00" kern="0" dirty="0">
                <a:solidFill>
                  <a:srgbClr val="F07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VIEWS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4206240" y="3721608"/>
            <a:ext cx="0" cy="731520"/>
          </a:xfrm>
          <a:prstGeom prst="line">
            <a:avLst/>
          </a:prstGeom>
          <a:noFill/>
          <a:ln w="9525">
            <a:solidFill>
              <a:srgbClr val="55555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206240" y="3630168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1.5K</a:t>
            </a:r>
            <a:endParaRPr lang="en-US" sz="30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4151376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00" kern="0" dirty="0">
                <a:solidFill>
                  <a:srgbClr val="F07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REACTIONS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7955280" y="3721608"/>
            <a:ext cx="0" cy="731520"/>
          </a:xfrm>
          <a:prstGeom prst="line">
            <a:avLst/>
          </a:prstGeom>
          <a:noFill/>
          <a:ln w="9525">
            <a:solidFill>
              <a:srgbClr val="555555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955280" y="3630168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000" dirty="0"/>
          </a:p>
        </p:txBody>
      </p:sp>
      <p:sp>
        <p:nvSpPr>
          <p:cNvPr id="19" name="Text 17"/>
          <p:cNvSpPr txBox="1"/>
          <p:nvPr/>
        </p:nvSpPr>
        <p:spPr>
          <a:xfrm>
            <a:off x="7955280" y="4151376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00" kern="0" dirty="0">
                <a:solidFill>
                  <a:srgbClr val="F07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SELECTED VIDEOS</a:t>
            </a:r>
            <a:endParaRPr lang="en-US" sz="850" dirty="0"/>
          </a:p>
        </p:txBody>
      </p:sp>
      <p:pic>
        <p:nvPicPr>
          <p:cNvPr id="20" name="Image 0" descr="/tmp/claude-0/-home-user-Bajaj-Model-Retail-Engine/1624ea0e-43c6-5f81-8390-e0cc3ac23fa3/scratchpad/pdf_images/img-025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4572000"/>
            <a:ext cx="5486400" cy="779526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2999232" y="4760595"/>
            <a:ext cx="402336" cy="402336"/>
          </a:xfrm>
          <a:prstGeom prst="ellipse">
            <a:avLst/>
          </a:prstGeom>
          <a:solidFill>
            <a:srgbClr val="F07F2A"/>
          </a:solidFill>
          <a:ln w="12700">
            <a:solidFill>
              <a:srgbClr val="F07F2A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2999232" y="4797171"/>
            <a:ext cx="4023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457200" y="5351526"/>
            <a:ext cx="5486400" cy="637794"/>
          </a:xfrm>
          <a:prstGeom prst="rect">
            <a:avLst/>
          </a:prstGeom>
          <a:solidFill>
            <a:srgbClr val="FFFFFF"/>
          </a:solidFill>
          <a:ln w="6350">
            <a:solidFill>
              <a:srgbClr val="E8E2D9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66928" y="5424678"/>
            <a:ext cx="52669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Mercedes-Benz model spotlight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566928" y="5753862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07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47K views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566928" y="5918454"/>
            <a:ext cx="52669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653 reactions  •  WATCH ON FACEBOOK</a:t>
            </a:r>
            <a:endParaRPr lang="en-US" sz="900" dirty="0"/>
          </a:p>
        </p:txBody>
      </p:sp>
      <p:pic>
        <p:nvPicPr>
          <p:cNvPr id="27" name="Image 1" descr="/tmp/claude-0/-home-user-Bajaj-Model-Retail-Engine/1624ea0e-43c6-5f81-8390-e0cc3ac23fa3/scratchpad/pdf_images/img-026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17920" y="4572000"/>
            <a:ext cx="5486400" cy="779526"/>
          </a:xfrm>
          <a:prstGeom prst="rect">
            <a:avLst/>
          </a:prstGeom>
        </p:spPr>
      </p:pic>
      <p:sp>
        <p:nvSpPr>
          <p:cNvPr id="28" name="Shape 24"/>
          <p:cNvSpPr/>
          <p:nvPr/>
        </p:nvSpPr>
        <p:spPr>
          <a:xfrm>
            <a:off x="8759952" y="4760595"/>
            <a:ext cx="402336" cy="402336"/>
          </a:xfrm>
          <a:prstGeom prst="ellipse">
            <a:avLst/>
          </a:prstGeom>
          <a:solidFill>
            <a:srgbClr val="F07F2A"/>
          </a:solidFill>
          <a:ln w="12700">
            <a:solidFill>
              <a:srgbClr val="F07F2A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8759952" y="4797171"/>
            <a:ext cx="4023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400" dirty="0"/>
          </a:p>
        </p:txBody>
      </p:sp>
      <p:sp>
        <p:nvSpPr>
          <p:cNvPr id="30" name="Shape 26"/>
          <p:cNvSpPr/>
          <p:nvPr/>
        </p:nvSpPr>
        <p:spPr>
          <a:xfrm>
            <a:off x="6217920" y="5351526"/>
            <a:ext cx="5486400" cy="637794"/>
          </a:xfrm>
          <a:prstGeom prst="rect">
            <a:avLst/>
          </a:prstGeom>
          <a:solidFill>
            <a:srgbClr val="FFFFFF"/>
          </a:solidFill>
          <a:ln w="6350">
            <a:solidFill>
              <a:srgbClr val="E8E2D9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6327648" y="5424678"/>
            <a:ext cx="52669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CLA: the latest Super Screen</a:t>
            </a:r>
            <a:endParaRPr lang="en-US" sz="1100" dirty="0"/>
          </a:p>
        </p:txBody>
      </p:sp>
      <p:sp>
        <p:nvSpPr>
          <p:cNvPr id="32" name="Text 28"/>
          <p:cNvSpPr txBox="1"/>
          <p:nvPr/>
        </p:nvSpPr>
        <p:spPr>
          <a:xfrm>
            <a:off x="6327648" y="5753862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07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45K views</a:t>
            </a:r>
            <a:endParaRPr lang="en-US" sz="1000" dirty="0"/>
          </a:p>
        </p:txBody>
      </p:sp>
      <p:sp>
        <p:nvSpPr>
          <p:cNvPr id="33" name="Text 29"/>
          <p:cNvSpPr txBox="1"/>
          <p:nvPr/>
        </p:nvSpPr>
        <p:spPr>
          <a:xfrm>
            <a:off x="6327648" y="5918454"/>
            <a:ext cx="52669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801 reactions  •  WATCH ON FACEBOOK</a:t>
            </a:r>
            <a:endParaRPr lang="en-US" sz="900" dirty="0"/>
          </a:p>
        </p:txBody>
      </p:sp>
      <p:sp>
        <p:nvSpPr>
          <p:cNvPr id="34" name="Text 30"/>
          <p:cNvSpPr txBox="1"/>
          <p:nvPr/>
        </p:nvSpPr>
        <p:spPr>
          <a:xfrm>
            <a:off x="457200" y="609904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07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CONNECTION</a:t>
            </a:r>
            <a:endParaRPr lang="en-US" sz="900" dirty="0"/>
          </a:p>
        </p:txBody>
      </p:sp>
      <p:sp>
        <p:nvSpPr>
          <p:cNvPr id="35" name="Text 31"/>
          <p:cNvSpPr txBox="1"/>
          <p:nvPr/>
        </p:nvSpPr>
        <p:spPr>
          <a:xfrm>
            <a:off x="457200" y="6236208"/>
            <a:ext cx="10972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 vehicles become more relatable when the story starts with details people can understand and discuss.</a:t>
            </a:r>
            <a:endParaRPr lang="en-US" sz="900" dirty="0"/>
          </a:p>
        </p:txBody>
      </p:sp>
      <p:sp>
        <p:nvSpPr>
          <p:cNvPr id="36" name="Shape 32"/>
          <p:cNvSpPr/>
          <p:nvPr/>
        </p:nvSpPr>
        <p:spPr>
          <a:xfrm>
            <a:off x="457200" y="6355080"/>
            <a:ext cx="11247120" cy="0"/>
          </a:xfrm>
          <a:prstGeom prst="line">
            <a:avLst/>
          </a:prstGeom>
          <a:noFill/>
          <a:ln w="6350">
            <a:solidFill>
              <a:srgbClr val="E8E2D9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457200" y="644652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Facebook preview counts, checked 23 Oct 2026. Figures are rounded and may change.</a:t>
            </a:r>
            <a:endParaRPr lang="en-US" sz="800" dirty="0"/>
          </a:p>
        </p:txBody>
      </p:sp>
      <p:sp>
        <p:nvSpPr>
          <p:cNvPr id="38" name="Text 34"/>
          <p:cNvSpPr txBox="1"/>
          <p:nvPr/>
        </p:nvSpPr>
        <p:spPr>
          <a:xfrm>
            <a:off x="9601200" y="6446520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11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07F2A"/>
          </a:solidFill>
          <a:ln w="12700">
            <a:solidFill>
              <a:srgbClr val="F07F2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3200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07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COLLABORATION / JETOUR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640080"/>
            <a:ext cx="9144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Different places.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234440"/>
            <a:ext cx="9144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same curiosity.</a:t>
            </a:r>
            <a:endParaRPr lang="en-US" sz="38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901952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Sri Lankan and Dubai content connects vehicle character, owner interest and destination-led experiences.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450592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400" kern="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JETOUR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457200" y="3154680"/>
            <a:ext cx="11247120" cy="1005840"/>
          </a:xfrm>
          <a:prstGeom prst="rect">
            <a:avLst/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320040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1.335M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3721608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00" kern="0" dirty="0">
                <a:solidFill>
                  <a:srgbClr val="F07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VIEWS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4206240" y="3291840"/>
            <a:ext cx="0" cy="731520"/>
          </a:xfrm>
          <a:prstGeom prst="line">
            <a:avLst/>
          </a:prstGeom>
          <a:noFill/>
          <a:ln w="9525">
            <a:solidFill>
              <a:srgbClr val="55555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206240" y="320040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30.9K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4206240" y="3721608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00" kern="0" dirty="0">
                <a:solidFill>
                  <a:srgbClr val="F07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REACTIONS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7955280" y="3291840"/>
            <a:ext cx="0" cy="731520"/>
          </a:xfrm>
          <a:prstGeom prst="line">
            <a:avLst/>
          </a:prstGeom>
          <a:noFill/>
          <a:ln w="9525">
            <a:solidFill>
              <a:srgbClr val="55555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955280" y="320040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7955280" y="3721608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00" kern="0" dirty="0">
                <a:solidFill>
                  <a:srgbClr val="F07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SELECTED VIDEOS</a:t>
            </a:r>
            <a:endParaRPr lang="en-US" sz="850" dirty="0"/>
          </a:p>
        </p:txBody>
      </p:sp>
      <p:pic>
        <p:nvPicPr>
          <p:cNvPr id="18" name="Image 0" descr="/tmp/claude-0/-home-user-Bajaj-Model-Retail-Engine/1624ea0e-43c6-5f81-8390-e0cc3ac23fa3/scratchpad/pdf_images/img-031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4279392"/>
            <a:ext cx="5394960" cy="930402"/>
          </a:xfrm>
          <a:prstGeom prst="rect">
            <a:avLst/>
          </a:prstGeom>
        </p:spPr>
      </p:pic>
      <p:sp>
        <p:nvSpPr>
          <p:cNvPr id="19" name="Shape 16"/>
          <p:cNvSpPr/>
          <p:nvPr/>
        </p:nvSpPr>
        <p:spPr>
          <a:xfrm>
            <a:off x="2953512" y="4543425"/>
            <a:ext cx="402336" cy="402336"/>
          </a:xfrm>
          <a:prstGeom prst="ellipse">
            <a:avLst/>
          </a:prstGeom>
          <a:solidFill>
            <a:srgbClr val="F07F2A"/>
          </a:solidFill>
          <a:ln w="12700">
            <a:solidFill>
              <a:srgbClr val="F07F2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953512" y="4580001"/>
            <a:ext cx="4023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457200" y="5209794"/>
            <a:ext cx="5394960" cy="761238"/>
          </a:xfrm>
          <a:prstGeom prst="rect">
            <a:avLst/>
          </a:prstGeom>
          <a:solidFill>
            <a:srgbClr val="FFFFFF"/>
          </a:solidFill>
          <a:ln w="6350">
            <a:solidFill>
              <a:srgbClr val="E8E2D9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66928" y="5282946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Modified JETOURs in Sri Lanka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5612130"/>
            <a:ext cx="29672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07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152K views</a:t>
            </a:r>
            <a:endParaRPr lang="en-US" sz="10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5776722"/>
            <a:ext cx="51755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1.7K reactions  •  WATCH ON FACEBOOK</a:t>
            </a:r>
            <a:endParaRPr lang="en-US" sz="900" dirty="0"/>
          </a:p>
        </p:txBody>
      </p:sp>
      <p:pic>
        <p:nvPicPr>
          <p:cNvPr id="25" name="Image 1" descr="/tmp/claude-0/-home-user-Bajaj-Model-Retail-Engine/1624ea0e-43c6-5f81-8390-e0cc3ac23fa3/scratchpad/pdf_images/img-032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126480" y="4279392"/>
            <a:ext cx="5394960" cy="930402"/>
          </a:xfrm>
          <a:prstGeom prst="rect">
            <a:avLst/>
          </a:prstGeom>
        </p:spPr>
      </p:pic>
      <p:sp>
        <p:nvSpPr>
          <p:cNvPr id="26" name="Shape 22"/>
          <p:cNvSpPr/>
          <p:nvPr/>
        </p:nvSpPr>
        <p:spPr>
          <a:xfrm>
            <a:off x="8622792" y="4543425"/>
            <a:ext cx="402336" cy="402336"/>
          </a:xfrm>
          <a:prstGeom prst="ellipse">
            <a:avLst/>
          </a:prstGeom>
          <a:solidFill>
            <a:srgbClr val="F07F2A"/>
          </a:solidFill>
          <a:ln w="12700">
            <a:solidFill>
              <a:srgbClr val="F07F2A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8622792" y="4580001"/>
            <a:ext cx="4023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400" dirty="0"/>
          </a:p>
        </p:txBody>
      </p:sp>
      <p:sp>
        <p:nvSpPr>
          <p:cNvPr id="28" name="Shape 24"/>
          <p:cNvSpPr/>
          <p:nvPr/>
        </p:nvSpPr>
        <p:spPr>
          <a:xfrm>
            <a:off x="6126480" y="5209794"/>
            <a:ext cx="5394960" cy="761238"/>
          </a:xfrm>
          <a:prstGeom prst="rect">
            <a:avLst/>
          </a:prstGeom>
          <a:solidFill>
            <a:srgbClr val="FFFFFF"/>
          </a:solidFill>
          <a:ln w="6350">
            <a:solidFill>
              <a:srgbClr val="E8E2D9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6236208" y="5282946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JETOUR in Dubai's desert</a:t>
            </a:r>
            <a:endParaRPr lang="en-US" sz="1100" dirty="0"/>
          </a:p>
        </p:txBody>
      </p:sp>
      <p:sp>
        <p:nvSpPr>
          <p:cNvPr id="30" name="Text 26"/>
          <p:cNvSpPr txBox="1"/>
          <p:nvPr/>
        </p:nvSpPr>
        <p:spPr>
          <a:xfrm>
            <a:off x="6236208" y="5612130"/>
            <a:ext cx="29672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07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163K views</a:t>
            </a:r>
            <a:endParaRPr lang="en-US" sz="1000" dirty="0"/>
          </a:p>
        </p:txBody>
      </p:sp>
      <p:sp>
        <p:nvSpPr>
          <p:cNvPr id="31" name="Text 27"/>
          <p:cNvSpPr txBox="1"/>
          <p:nvPr/>
        </p:nvSpPr>
        <p:spPr>
          <a:xfrm>
            <a:off x="6236208" y="5776722"/>
            <a:ext cx="51755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2.5K reactions  •  WATCH ON FACEBOOK</a:t>
            </a:r>
            <a:endParaRPr lang="en-US" sz="900" dirty="0"/>
          </a:p>
        </p:txBody>
      </p:sp>
      <p:sp>
        <p:nvSpPr>
          <p:cNvPr id="32" name="Shape 28"/>
          <p:cNvSpPr/>
          <p:nvPr/>
        </p:nvSpPr>
        <p:spPr>
          <a:xfrm>
            <a:off x="457200" y="6053328"/>
            <a:ext cx="11247120" cy="457200"/>
          </a:xfrm>
          <a:prstGeom prst="rect">
            <a:avLst/>
          </a:prstGeom>
          <a:solidFill>
            <a:srgbClr val="F5F0E8"/>
          </a:solidFill>
          <a:ln w="6350">
            <a:solidFill>
              <a:srgbClr val="E8E2D9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594360" y="6062472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Also: JETOUR: the 0-100 question  —  346K views / 5.7K reactions</a:t>
            </a:r>
            <a:endParaRPr lang="en-US" sz="900" dirty="0"/>
          </a:p>
        </p:txBody>
      </p:sp>
      <p:sp>
        <p:nvSpPr>
          <p:cNvPr id="34" name="Text 30"/>
          <p:cNvSpPr txBox="1"/>
          <p:nvPr/>
        </p:nvSpPr>
        <p:spPr>
          <a:xfrm>
            <a:off x="594360" y="6254496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JETOUR T2 on the road  —  674K views / 21K reactions</a:t>
            </a:r>
            <a:endParaRPr lang="en-US" sz="900" dirty="0"/>
          </a:p>
        </p:txBody>
      </p:sp>
      <p:sp>
        <p:nvSpPr>
          <p:cNvPr id="35" name="Shape 31"/>
          <p:cNvSpPr/>
          <p:nvPr/>
        </p:nvSpPr>
        <p:spPr>
          <a:xfrm>
            <a:off x="457200" y="6355080"/>
            <a:ext cx="11247120" cy="0"/>
          </a:xfrm>
          <a:prstGeom prst="line">
            <a:avLst/>
          </a:prstGeom>
          <a:noFill/>
          <a:ln w="6350">
            <a:solidFill>
              <a:srgbClr val="E8E2D9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457200" y="644652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Facebook preview counts, checked 23 Oct 2026. Figures are rounded and may change.</a:t>
            </a:r>
            <a:endParaRPr lang="en-US" sz="800" dirty="0"/>
          </a:p>
        </p:txBody>
      </p:sp>
      <p:sp>
        <p:nvSpPr>
          <p:cNvPr id="37" name="Text 33"/>
          <p:cNvSpPr txBox="1"/>
          <p:nvPr/>
        </p:nvSpPr>
        <p:spPr>
          <a:xfrm>
            <a:off x="9601200" y="6446520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/ 11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07F2A"/>
          </a:solidFill>
          <a:ln w="12700">
            <a:solidFill>
              <a:srgbClr val="F07F2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3200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07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COLLABORATION / BAW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640080"/>
            <a:ext cx="9144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Closer to the brand.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234440"/>
            <a:ext cx="9144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Inside the China visit.</a:t>
            </a:r>
            <a:endParaRPr lang="en-US" sz="38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901952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BAW visit in China takes the audience beyond the local vehicle conversation and closer to where the products are made.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2514600"/>
            <a:ext cx="1005840" cy="1005840"/>
          </a:xfrm>
          <a:prstGeom prst="ellipse">
            <a:avLst/>
          </a:prstGeom>
          <a:solidFill>
            <a:srgbClr val="9B1B3B"/>
          </a:solidFill>
          <a:ln w="12700">
            <a:solidFill>
              <a:srgbClr val="9B1B3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51460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BAW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3657600"/>
            <a:ext cx="11247120" cy="1005840"/>
          </a:xfrm>
          <a:prstGeom prst="rect">
            <a:avLst/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" y="370332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82K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4224528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00" kern="0" dirty="0">
                <a:solidFill>
                  <a:srgbClr val="F07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VIEWS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206240" y="3794760"/>
            <a:ext cx="0" cy="731520"/>
          </a:xfrm>
          <a:prstGeom prst="line">
            <a:avLst/>
          </a:prstGeom>
          <a:noFill/>
          <a:ln w="9525">
            <a:solidFill>
              <a:srgbClr val="55555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206240" y="370332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1K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4206240" y="4224528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00" kern="0" dirty="0">
                <a:solidFill>
                  <a:srgbClr val="F07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REACTIONS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7955280" y="3794760"/>
            <a:ext cx="0" cy="731520"/>
          </a:xfrm>
          <a:prstGeom prst="line">
            <a:avLst/>
          </a:prstGeom>
          <a:noFill/>
          <a:ln w="9525">
            <a:solidFill>
              <a:srgbClr val="55555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955280" y="370332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7955280" y="4224528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00" kern="0" dirty="0">
                <a:solidFill>
                  <a:srgbClr val="F07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SELECTED VIDEO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57200" y="4754880"/>
            <a:ext cx="11247120" cy="1371600"/>
          </a:xfrm>
          <a:prstGeom prst="rect">
            <a:avLst/>
          </a:prstGeom>
          <a:solidFill>
            <a:srgbClr val="FFFFFF"/>
          </a:solidFill>
          <a:ln w="6350">
            <a:solidFill>
              <a:srgbClr val="E8E2D9"/>
            </a:solidFill>
            <a:prstDash val="solid"/>
          </a:ln>
        </p:spPr>
      </p:sp>
      <p:pic>
        <p:nvPicPr>
          <p:cNvPr id="20" name="Image 0" descr="/tmp/claude-0/-home-user-Bajaj-Model-Retail-Engine/1624ea0e-43c6-5f81-8390-e0cc3ac23fa3/scratchpad/pdf_images/img-039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4754880"/>
            <a:ext cx="3657600" cy="1371600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1645920" y="5239512"/>
            <a:ext cx="402336" cy="402336"/>
          </a:xfrm>
          <a:prstGeom prst="ellipse">
            <a:avLst/>
          </a:prstGeom>
          <a:solidFill>
            <a:srgbClr val="F07F2A"/>
          </a:solidFill>
          <a:ln w="12700">
            <a:solidFill>
              <a:srgbClr val="F07F2A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645920" y="52395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4297680" y="4846320"/>
            <a:ext cx="7040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BAW in China: vehicles and manufacturing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4297680" y="523036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07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82K views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4297680" y="546811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1K reactions  •  WATCH ON FACEBOOK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457200" y="6355080"/>
            <a:ext cx="11247120" cy="0"/>
          </a:xfrm>
          <a:prstGeom prst="line">
            <a:avLst/>
          </a:prstGeom>
          <a:noFill/>
          <a:ln w="6350">
            <a:solidFill>
              <a:srgbClr val="E8E2D9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457200" y="644652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Facebook preview counts, checked 23 Oct 2026. Figures are rounded and may change.</a:t>
            </a:r>
            <a:endParaRPr lang="en-US" sz="800" dirty="0"/>
          </a:p>
        </p:txBody>
      </p:sp>
      <p:sp>
        <p:nvSpPr>
          <p:cNvPr id="28" name="Text 25"/>
          <p:cNvSpPr txBox="1"/>
          <p:nvPr/>
        </p:nvSpPr>
        <p:spPr>
          <a:xfrm>
            <a:off x="9601200" y="6446520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/ 11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07F2A"/>
          </a:solidFill>
          <a:ln w="12700">
            <a:solidFill>
              <a:srgbClr val="F07F2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3200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07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COLLABORATION / BENTLEY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640080"/>
            <a:ext cx="9144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aspirational brand.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234440"/>
            <a:ext cx="9144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closer look.</a:t>
            </a:r>
            <a:endParaRPr lang="en-US" sz="38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901952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Bentley Bentayga Azure EWB brings a distinctive luxury vehicle into the wider enthusiast conversation.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2468880"/>
            <a:ext cx="292608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E8E2D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46888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  BENTLEY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457200" y="3401568"/>
            <a:ext cx="11247120" cy="1005840"/>
          </a:xfrm>
          <a:prstGeom prst="rect">
            <a:avLst/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" y="3447288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137K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3968496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00" kern="0" dirty="0">
                <a:solidFill>
                  <a:srgbClr val="F07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VIEWS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206240" y="3538728"/>
            <a:ext cx="0" cy="731520"/>
          </a:xfrm>
          <a:prstGeom prst="line">
            <a:avLst/>
          </a:prstGeom>
          <a:noFill/>
          <a:ln w="9525">
            <a:solidFill>
              <a:srgbClr val="55555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206240" y="3447288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4.1K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4206240" y="3968496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00" kern="0" dirty="0">
                <a:solidFill>
                  <a:srgbClr val="F07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REACTIONS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7955280" y="3538728"/>
            <a:ext cx="0" cy="731520"/>
          </a:xfrm>
          <a:prstGeom prst="line">
            <a:avLst/>
          </a:prstGeom>
          <a:noFill/>
          <a:ln w="9525">
            <a:solidFill>
              <a:srgbClr val="55555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955280" y="3447288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7955280" y="3968496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00" kern="0" dirty="0">
                <a:solidFill>
                  <a:srgbClr val="F07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SELECTED VIDEO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57200" y="4462272"/>
            <a:ext cx="11247120" cy="1645920"/>
          </a:xfrm>
          <a:prstGeom prst="rect">
            <a:avLst/>
          </a:prstGeom>
          <a:solidFill>
            <a:srgbClr val="FFFFFF"/>
          </a:solidFill>
          <a:ln w="6350">
            <a:solidFill>
              <a:srgbClr val="E8E2D9"/>
            </a:solidFill>
            <a:prstDash val="solid"/>
          </a:ln>
        </p:spPr>
      </p:sp>
      <p:pic>
        <p:nvPicPr>
          <p:cNvPr id="20" name="Image 0" descr="/tmp/claude-0/-home-user-Bajaj-Model-Retail-Engine/1624ea0e-43c6-5f81-8390-e0cc3ac23fa3/scratchpad/pdf_images/img-044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4462272"/>
            <a:ext cx="3657600" cy="1645920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1645920" y="5129784"/>
            <a:ext cx="402336" cy="402336"/>
          </a:xfrm>
          <a:prstGeom prst="ellipse">
            <a:avLst/>
          </a:prstGeom>
          <a:solidFill>
            <a:srgbClr val="F07F2A"/>
          </a:solidFill>
          <a:ln w="12700">
            <a:solidFill>
              <a:srgbClr val="F07F2A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645920" y="51297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4297680" y="4572000"/>
            <a:ext cx="7040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Bentley Bentayga Azure EWB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4297680" y="49560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07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137K views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4297680" y="521208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4.1K reactions  •  WATCH ON FACEBOOK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457200" y="6355080"/>
            <a:ext cx="11247120" cy="0"/>
          </a:xfrm>
          <a:prstGeom prst="line">
            <a:avLst/>
          </a:prstGeom>
          <a:noFill/>
          <a:ln w="6350">
            <a:solidFill>
              <a:srgbClr val="E8E2D9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457200" y="644652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Facebook preview counts, checked 23 Oct 2026. Figures are rounded and may change.</a:t>
            </a:r>
            <a:endParaRPr lang="en-US" sz="800" dirty="0"/>
          </a:p>
        </p:txBody>
      </p:sp>
      <p:sp>
        <p:nvSpPr>
          <p:cNvPr id="28" name="Text 25"/>
          <p:cNvSpPr txBox="1"/>
          <p:nvPr/>
        </p:nvSpPr>
        <p:spPr>
          <a:xfrm>
            <a:off x="9601200" y="6446520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/ 11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07F2A"/>
          </a:solidFill>
          <a:ln w="12700">
            <a:solidFill>
              <a:srgbClr val="F07F2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3200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07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COLLABORATION / CHANGAN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640080"/>
            <a:ext cx="9144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Small details.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234440"/>
            <a:ext cx="9144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Strong talking points.</a:t>
            </a:r>
            <a:endParaRPr lang="en-US" sz="38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901952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Feature-led content gives audiences an accessible way to discover Changan and the NEVO Q05.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2468880"/>
            <a:ext cx="2926080" cy="77724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46888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CHANGAN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3401568"/>
            <a:ext cx="11247120" cy="1005840"/>
          </a:xfrm>
          <a:prstGeom prst="rect">
            <a:avLst/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" y="3447288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62K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3968496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00" kern="0" dirty="0">
                <a:solidFill>
                  <a:srgbClr val="F07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VIEWS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206240" y="3538728"/>
            <a:ext cx="0" cy="731520"/>
          </a:xfrm>
          <a:prstGeom prst="line">
            <a:avLst/>
          </a:prstGeom>
          <a:noFill/>
          <a:ln w="9525">
            <a:solidFill>
              <a:srgbClr val="55555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206240" y="3447288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641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4206240" y="3968496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00" kern="0" dirty="0">
                <a:solidFill>
                  <a:srgbClr val="F07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REACTIONS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7955280" y="3538728"/>
            <a:ext cx="0" cy="731520"/>
          </a:xfrm>
          <a:prstGeom prst="line">
            <a:avLst/>
          </a:prstGeom>
          <a:noFill/>
          <a:ln w="9525">
            <a:solidFill>
              <a:srgbClr val="55555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955280" y="3447288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7955280" y="3968496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00" kern="0" dirty="0">
                <a:solidFill>
                  <a:srgbClr val="F07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SELECTED VIDEO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57200" y="4462272"/>
            <a:ext cx="11247120" cy="1645920"/>
          </a:xfrm>
          <a:prstGeom prst="rect">
            <a:avLst/>
          </a:prstGeom>
          <a:solidFill>
            <a:srgbClr val="FFFFFF"/>
          </a:solidFill>
          <a:ln w="6350">
            <a:solidFill>
              <a:srgbClr val="E8E2D9"/>
            </a:solidFill>
            <a:prstDash val="solid"/>
          </a:ln>
        </p:spPr>
      </p:sp>
      <p:pic>
        <p:nvPicPr>
          <p:cNvPr id="20" name="Image 0" descr="/tmp/claude-0/-home-user-Bajaj-Model-Retail-Engine/1624ea0e-43c6-5f81-8390-e0cc3ac23fa3/scratchpad/pdf_images/img-049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4462272"/>
            <a:ext cx="3657600" cy="1645920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1645920" y="5129784"/>
            <a:ext cx="402336" cy="402336"/>
          </a:xfrm>
          <a:prstGeom prst="ellipse">
            <a:avLst/>
          </a:prstGeom>
          <a:solidFill>
            <a:srgbClr val="F07F2A"/>
          </a:solidFill>
          <a:ln w="12700">
            <a:solidFill>
              <a:srgbClr val="F07F2A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645920" y="51297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4297680" y="4572000"/>
            <a:ext cx="7040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NEVO Q05: a practical feature spotlight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4297680" y="49560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07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62K views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4297680" y="521208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641 reactions  •  WATCH ON FACEBOOK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457200" y="6355080"/>
            <a:ext cx="11247120" cy="0"/>
          </a:xfrm>
          <a:prstGeom prst="line">
            <a:avLst/>
          </a:prstGeom>
          <a:noFill/>
          <a:ln w="6350">
            <a:solidFill>
              <a:srgbClr val="E8E2D9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457200" y="644652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Facebook preview counts, checked 23 Oct 2026. Figures are rounded and may change.</a:t>
            </a:r>
            <a:endParaRPr lang="en-US" sz="800" dirty="0"/>
          </a:p>
        </p:txBody>
      </p:sp>
      <p:sp>
        <p:nvSpPr>
          <p:cNvPr id="28" name="Text 25"/>
          <p:cNvSpPr txBox="1"/>
          <p:nvPr/>
        </p:nvSpPr>
        <p:spPr>
          <a:xfrm>
            <a:off x="9601200" y="6446520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/ 11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07F2A"/>
          </a:solidFill>
          <a:ln w="12700">
            <a:solidFill>
              <a:srgbClr val="F07F2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3200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07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COLLABORATION / MG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640080"/>
            <a:ext cx="9144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daily use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234440"/>
            <a:ext cx="9144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 new possibilities.</a:t>
            </a:r>
            <a:endParaRPr lang="en-US" sz="38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901952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Selected MG content explores a pickup, changes to a familiar SUV and the questions buyers ask about value.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2468880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46888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MG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600200" y="26974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MG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457200" y="3630168"/>
            <a:ext cx="11247120" cy="1005840"/>
          </a:xfrm>
          <a:prstGeom prst="rect">
            <a:avLst/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3675888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508K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4197096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00" kern="0" dirty="0">
                <a:solidFill>
                  <a:srgbClr val="F07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VIEWS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4206240" y="3767328"/>
            <a:ext cx="0" cy="731520"/>
          </a:xfrm>
          <a:prstGeom prst="line">
            <a:avLst/>
          </a:prstGeom>
          <a:noFill/>
          <a:ln w="9525">
            <a:solidFill>
              <a:srgbClr val="55555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206240" y="3675888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9.1K</a:t>
            </a:r>
            <a:endParaRPr lang="en-US" sz="30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4197096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00" kern="0" dirty="0">
                <a:solidFill>
                  <a:srgbClr val="F07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REACTIONS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7955280" y="3767328"/>
            <a:ext cx="0" cy="731520"/>
          </a:xfrm>
          <a:prstGeom prst="line">
            <a:avLst/>
          </a:prstGeom>
          <a:noFill/>
          <a:ln w="9525">
            <a:solidFill>
              <a:srgbClr val="555555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955280" y="3675888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000" dirty="0"/>
          </a:p>
        </p:txBody>
      </p:sp>
      <p:sp>
        <p:nvSpPr>
          <p:cNvPr id="19" name="Text 17"/>
          <p:cNvSpPr txBox="1"/>
          <p:nvPr/>
        </p:nvSpPr>
        <p:spPr>
          <a:xfrm>
            <a:off x="7955280" y="4197096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00" kern="0" dirty="0">
                <a:solidFill>
                  <a:srgbClr val="F07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SELECTED VIDEOS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57200" y="4645152"/>
            <a:ext cx="1124712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E8E2D9"/>
            </a:solidFill>
            <a:prstDash val="solid"/>
          </a:ln>
        </p:spPr>
      </p:sp>
      <p:pic>
        <p:nvPicPr>
          <p:cNvPr id="21" name="Image 0" descr="/tmp/claude-0/-home-user-Bajaj-Model-Retail-Engine/1624ea0e-43c6-5f81-8390-e0cc3ac23fa3/scratchpad/pdf_images/img-054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4645152"/>
            <a:ext cx="3599078" cy="530352"/>
          </a:xfrm>
          <a:prstGeom prst="rect">
            <a:avLst/>
          </a:prstGeom>
        </p:spPr>
      </p:pic>
      <p:sp>
        <p:nvSpPr>
          <p:cNvPr id="22" name="Shape 19"/>
          <p:cNvSpPr/>
          <p:nvPr/>
        </p:nvSpPr>
        <p:spPr>
          <a:xfrm>
            <a:off x="2092147" y="4745736"/>
            <a:ext cx="329184" cy="329184"/>
          </a:xfrm>
          <a:prstGeom prst="ellipse">
            <a:avLst/>
          </a:prstGeom>
          <a:solidFill>
            <a:srgbClr val="F07F2A"/>
          </a:solidFill>
          <a:ln w="12700">
            <a:solidFill>
              <a:srgbClr val="F07F2A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2092147" y="4773168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4166006" y="4687580"/>
            <a:ext cx="7465162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MG U9 pickup spotlight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4166006" y="4899721"/>
            <a:ext cx="746516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07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322K views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457200" y="5202936"/>
            <a:ext cx="1124712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E8E2D9"/>
            </a:solidFill>
            <a:prstDash val="solid"/>
          </a:ln>
        </p:spPr>
      </p:sp>
      <p:pic>
        <p:nvPicPr>
          <p:cNvPr id="27" name="Image 1" descr="/tmp/claude-0/-home-user-Bajaj-Model-Retail-Engine/1624ea0e-43c6-5f81-8390-e0cc3ac23fa3/scratchpad/pdf_images/img-055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57200" y="5202936"/>
            <a:ext cx="3599078" cy="530352"/>
          </a:xfrm>
          <a:prstGeom prst="rect">
            <a:avLst/>
          </a:prstGeom>
        </p:spPr>
      </p:pic>
      <p:sp>
        <p:nvSpPr>
          <p:cNvPr id="28" name="Shape 24"/>
          <p:cNvSpPr/>
          <p:nvPr/>
        </p:nvSpPr>
        <p:spPr>
          <a:xfrm>
            <a:off x="2092147" y="5303520"/>
            <a:ext cx="329184" cy="329184"/>
          </a:xfrm>
          <a:prstGeom prst="ellipse">
            <a:avLst/>
          </a:prstGeom>
          <a:solidFill>
            <a:srgbClr val="F07F2A"/>
          </a:solidFill>
          <a:ln w="12700">
            <a:solidFill>
              <a:srgbClr val="F07F2A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2092147" y="53309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200" dirty="0"/>
          </a:p>
        </p:txBody>
      </p:sp>
      <p:sp>
        <p:nvSpPr>
          <p:cNvPr id="30" name="Text 26"/>
          <p:cNvSpPr txBox="1"/>
          <p:nvPr/>
        </p:nvSpPr>
        <p:spPr>
          <a:xfrm>
            <a:off x="4166006" y="5245364"/>
            <a:ext cx="7465162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MG ZS: what's changed?</a:t>
            </a:r>
            <a:endParaRPr lang="en-US" sz="1100" dirty="0"/>
          </a:p>
        </p:txBody>
      </p:sp>
      <p:sp>
        <p:nvSpPr>
          <p:cNvPr id="31" name="Text 27"/>
          <p:cNvSpPr txBox="1"/>
          <p:nvPr/>
        </p:nvSpPr>
        <p:spPr>
          <a:xfrm>
            <a:off x="4166006" y="5457505"/>
            <a:ext cx="746516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07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46K views</a:t>
            </a:r>
            <a:endParaRPr lang="en-US" sz="1100" dirty="0"/>
          </a:p>
        </p:txBody>
      </p:sp>
      <p:sp>
        <p:nvSpPr>
          <p:cNvPr id="32" name="Shape 28"/>
          <p:cNvSpPr/>
          <p:nvPr/>
        </p:nvSpPr>
        <p:spPr>
          <a:xfrm>
            <a:off x="457200" y="5760720"/>
            <a:ext cx="1124712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E8E2D9"/>
            </a:solidFill>
            <a:prstDash val="solid"/>
          </a:ln>
        </p:spPr>
      </p:sp>
      <p:pic>
        <p:nvPicPr>
          <p:cNvPr id="33" name="Image 2" descr="/tmp/claude-0/-home-user-Bajaj-Model-Retail-Engine/1624ea0e-43c6-5f81-8390-e0cc3ac23fa3/scratchpad/pdf_images/img-056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57200" y="5760720"/>
            <a:ext cx="3599078" cy="530352"/>
          </a:xfrm>
          <a:prstGeom prst="rect">
            <a:avLst/>
          </a:prstGeom>
        </p:spPr>
      </p:pic>
      <p:sp>
        <p:nvSpPr>
          <p:cNvPr id="34" name="Shape 29"/>
          <p:cNvSpPr/>
          <p:nvPr/>
        </p:nvSpPr>
        <p:spPr>
          <a:xfrm>
            <a:off x="2092147" y="5861304"/>
            <a:ext cx="329184" cy="329184"/>
          </a:xfrm>
          <a:prstGeom prst="ellipse">
            <a:avLst/>
          </a:prstGeom>
          <a:solidFill>
            <a:srgbClr val="F07F2A"/>
          </a:solidFill>
          <a:ln w="12700">
            <a:solidFill>
              <a:srgbClr val="F07F2A"/>
            </a:solidFill>
            <a:prstDash val="solid"/>
          </a:ln>
        </p:spPr>
      </p:sp>
      <p:sp>
        <p:nvSpPr>
          <p:cNvPr id="35" name="Text 30"/>
          <p:cNvSpPr txBox="1"/>
          <p:nvPr/>
        </p:nvSpPr>
        <p:spPr>
          <a:xfrm>
            <a:off x="2092147" y="5888736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200" dirty="0"/>
          </a:p>
        </p:txBody>
      </p:sp>
      <p:sp>
        <p:nvSpPr>
          <p:cNvPr id="36" name="Text 31"/>
          <p:cNvSpPr txBox="1"/>
          <p:nvPr/>
        </p:nvSpPr>
        <p:spPr>
          <a:xfrm>
            <a:off x="4166006" y="5803148"/>
            <a:ext cx="7465162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full-size SUV value conversation</a:t>
            </a:r>
            <a:endParaRPr lang="en-US" sz="1100" dirty="0"/>
          </a:p>
        </p:txBody>
      </p:sp>
      <p:sp>
        <p:nvSpPr>
          <p:cNvPr id="37" name="Text 32"/>
          <p:cNvSpPr txBox="1"/>
          <p:nvPr/>
        </p:nvSpPr>
        <p:spPr>
          <a:xfrm>
            <a:off x="4166006" y="6015289"/>
            <a:ext cx="746516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07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140K views</a:t>
            </a:r>
            <a:endParaRPr lang="en-US" sz="1100" dirty="0"/>
          </a:p>
        </p:txBody>
      </p:sp>
      <p:sp>
        <p:nvSpPr>
          <p:cNvPr id="38" name="Shape 33"/>
          <p:cNvSpPr/>
          <p:nvPr/>
        </p:nvSpPr>
        <p:spPr>
          <a:xfrm>
            <a:off x="457200" y="6355080"/>
            <a:ext cx="11247120" cy="0"/>
          </a:xfrm>
          <a:prstGeom prst="line">
            <a:avLst/>
          </a:prstGeom>
          <a:noFill/>
          <a:ln w="6350">
            <a:solidFill>
              <a:srgbClr val="E8E2D9"/>
            </a:solidFill>
            <a:prstDash val="solid"/>
          </a:ln>
        </p:spPr>
      </p:sp>
      <p:sp>
        <p:nvSpPr>
          <p:cNvPr id="39" name="Text 34"/>
          <p:cNvSpPr txBox="1"/>
          <p:nvPr/>
        </p:nvSpPr>
        <p:spPr>
          <a:xfrm>
            <a:off x="457200" y="644652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Facebook preview counts, checked 23 Oct 2026. Figures are rounded and may change.</a:t>
            </a:r>
            <a:endParaRPr lang="en-US" sz="800" dirty="0"/>
          </a:p>
        </p:txBody>
      </p:sp>
      <p:sp>
        <p:nvSpPr>
          <p:cNvPr id="40" name="Text 35"/>
          <p:cNvSpPr txBox="1"/>
          <p:nvPr/>
        </p:nvSpPr>
        <p:spPr>
          <a:xfrm>
            <a:off x="9601200" y="6446520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11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07F2A"/>
          </a:solidFill>
          <a:ln w="12700">
            <a:solidFill>
              <a:srgbClr val="F07F2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3200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07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COLLABORATION / HYUNDAI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640080"/>
            <a:ext cx="9144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Space. Design.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234440"/>
            <a:ext cx="9144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Reasons to pay attention.</a:t>
            </a:r>
            <a:endParaRPr lang="en-US" sz="38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901952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Palisade and Santa Fe content brings family-SUV interest into the wider automotive community.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2395728"/>
            <a:ext cx="3474720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E8E2D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395728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  HYUNDAI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457200" y="3172968"/>
            <a:ext cx="11247120" cy="1005840"/>
          </a:xfrm>
          <a:prstGeom prst="rect">
            <a:avLst/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" y="3218688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1.007M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3739896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00" kern="0" dirty="0">
                <a:solidFill>
                  <a:srgbClr val="F07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VIEWS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206240" y="3310128"/>
            <a:ext cx="0" cy="731520"/>
          </a:xfrm>
          <a:prstGeom prst="line">
            <a:avLst/>
          </a:prstGeom>
          <a:noFill/>
          <a:ln w="9525">
            <a:solidFill>
              <a:srgbClr val="55555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206240" y="3218688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24.4K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4206240" y="3739896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00" kern="0" dirty="0">
                <a:solidFill>
                  <a:srgbClr val="F07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REACTIONS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7955280" y="3310128"/>
            <a:ext cx="0" cy="731520"/>
          </a:xfrm>
          <a:prstGeom prst="line">
            <a:avLst/>
          </a:prstGeom>
          <a:noFill/>
          <a:ln w="9525">
            <a:solidFill>
              <a:srgbClr val="55555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955280" y="3218688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7955280" y="3739896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00" kern="0" dirty="0">
                <a:solidFill>
                  <a:srgbClr val="F07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SELECTED VIDEOS</a:t>
            </a:r>
            <a:endParaRPr lang="en-US" sz="850" dirty="0"/>
          </a:p>
        </p:txBody>
      </p:sp>
      <p:pic>
        <p:nvPicPr>
          <p:cNvPr id="19" name="Image 0" descr="/tmp/claude-0/-home-user-Bajaj-Model-Retail-Engine/1624ea0e-43c6-5f81-8390-e0cc3ac23fa3/scratchpad/pdf_images/img-061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4297680"/>
            <a:ext cx="5394960" cy="854964"/>
          </a:xfrm>
          <a:prstGeom prst="rect">
            <a:avLst/>
          </a:prstGeom>
        </p:spPr>
      </p:pic>
      <p:sp>
        <p:nvSpPr>
          <p:cNvPr id="20" name="Shape 17"/>
          <p:cNvSpPr/>
          <p:nvPr/>
        </p:nvSpPr>
        <p:spPr>
          <a:xfrm>
            <a:off x="2953512" y="4523994"/>
            <a:ext cx="402336" cy="402336"/>
          </a:xfrm>
          <a:prstGeom prst="ellipse">
            <a:avLst/>
          </a:prstGeom>
          <a:solidFill>
            <a:srgbClr val="F07F2A"/>
          </a:solidFill>
          <a:ln w="12700">
            <a:solidFill>
              <a:srgbClr val="F07F2A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2953512" y="4560570"/>
            <a:ext cx="4023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457200" y="5152644"/>
            <a:ext cx="5394960" cy="699516"/>
          </a:xfrm>
          <a:prstGeom prst="rect">
            <a:avLst/>
          </a:prstGeom>
          <a:solidFill>
            <a:srgbClr val="FFFFFF"/>
          </a:solidFill>
          <a:ln w="6350">
            <a:solidFill>
              <a:srgbClr val="E8E2D9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66928" y="5225796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Palisade: space for eight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5554980"/>
            <a:ext cx="29672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07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794K views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566928" y="5719572"/>
            <a:ext cx="51755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19K reactions  •  WATCH ON FACEBOOK</a:t>
            </a:r>
            <a:endParaRPr lang="en-US" sz="900" dirty="0"/>
          </a:p>
        </p:txBody>
      </p:sp>
      <p:pic>
        <p:nvPicPr>
          <p:cNvPr id="26" name="Image 1" descr="/tmp/claude-0/-home-user-Bajaj-Model-Retail-Engine/1624ea0e-43c6-5f81-8390-e0cc3ac23fa3/scratchpad/pdf_images/img-062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126480" y="4297680"/>
            <a:ext cx="5394960" cy="854964"/>
          </a:xfrm>
          <a:prstGeom prst="rect">
            <a:avLst/>
          </a:prstGeom>
        </p:spPr>
      </p:pic>
      <p:sp>
        <p:nvSpPr>
          <p:cNvPr id="27" name="Shape 23"/>
          <p:cNvSpPr/>
          <p:nvPr/>
        </p:nvSpPr>
        <p:spPr>
          <a:xfrm>
            <a:off x="8622792" y="4523994"/>
            <a:ext cx="402336" cy="402336"/>
          </a:xfrm>
          <a:prstGeom prst="ellipse">
            <a:avLst/>
          </a:prstGeom>
          <a:solidFill>
            <a:srgbClr val="F07F2A"/>
          </a:solidFill>
          <a:ln w="12700">
            <a:solidFill>
              <a:srgbClr val="F07F2A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8622792" y="4560570"/>
            <a:ext cx="4023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400" dirty="0"/>
          </a:p>
        </p:txBody>
      </p:sp>
      <p:sp>
        <p:nvSpPr>
          <p:cNvPr id="29" name="Shape 25"/>
          <p:cNvSpPr/>
          <p:nvPr/>
        </p:nvSpPr>
        <p:spPr>
          <a:xfrm>
            <a:off x="6126480" y="5152644"/>
            <a:ext cx="5394960" cy="699516"/>
          </a:xfrm>
          <a:prstGeom prst="rect">
            <a:avLst/>
          </a:prstGeom>
          <a:solidFill>
            <a:srgbClr val="FFFFFF"/>
          </a:solidFill>
          <a:ln w="6350">
            <a:solidFill>
              <a:srgbClr val="E8E2D9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6236208" y="5225796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latest Santa Fe in Sri Lanka</a:t>
            </a:r>
            <a:endParaRPr lang="en-US" sz="1100" dirty="0"/>
          </a:p>
        </p:txBody>
      </p:sp>
      <p:sp>
        <p:nvSpPr>
          <p:cNvPr id="31" name="Text 27"/>
          <p:cNvSpPr txBox="1"/>
          <p:nvPr/>
        </p:nvSpPr>
        <p:spPr>
          <a:xfrm>
            <a:off x="6236208" y="5554980"/>
            <a:ext cx="29672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07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213K views</a:t>
            </a:r>
            <a:endParaRPr lang="en-US" sz="1000" dirty="0"/>
          </a:p>
        </p:txBody>
      </p:sp>
      <p:sp>
        <p:nvSpPr>
          <p:cNvPr id="32" name="Text 28"/>
          <p:cNvSpPr txBox="1"/>
          <p:nvPr/>
        </p:nvSpPr>
        <p:spPr>
          <a:xfrm>
            <a:off x="6236208" y="5719572"/>
            <a:ext cx="51755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5.4K reactions  •  WATCH ON FACEBOOK</a:t>
            </a:r>
            <a:endParaRPr lang="en-US" sz="900" dirty="0"/>
          </a:p>
        </p:txBody>
      </p:sp>
      <p:sp>
        <p:nvSpPr>
          <p:cNvPr id="33" name="Shape 29"/>
          <p:cNvSpPr/>
          <p:nvPr/>
        </p:nvSpPr>
        <p:spPr>
          <a:xfrm>
            <a:off x="0" y="5989320"/>
            <a:ext cx="12188952" cy="86868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457200" y="6062472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07F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DRIVE HUB</a:t>
            </a:r>
            <a:endParaRPr lang="en-US" sz="1300" dirty="0"/>
          </a:p>
        </p:txBody>
      </p:sp>
      <p:sp>
        <p:nvSpPr>
          <p:cNvPr id="35" name="Text 31"/>
          <p:cNvSpPr txBox="1"/>
          <p:nvPr/>
        </p:nvSpPr>
        <p:spPr>
          <a:xfrm>
            <a:off x="2148840" y="6062472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n-US" sz="1300" dirty="0"/>
          </a:p>
        </p:txBody>
      </p:sp>
      <p:sp>
        <p:nvSpPr>
          <p:cNvPr id="36" name="Text 32"/>
          <p:cNvSpPr txBox="1"/>
          <p:nvPr/>
        </p:nvSpPr>
        <p:spPr>
          <a:xfrm>
            <a:off x="2560320" y="606247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AutoHub</a:t>
            </a:r>
            <a:endParaRPr lang="en-US" sz="1300" dirty="0"/>
          </a:p>
        </p:txBody>
      </p:sp>
      <p:sp>
        <p:nvSpPr>
          <p:cNvPr id="37" name="Text 33"/>
          <p:cNvSpPr txBox="1"/>
          <p:nvPr/>
        </p:nvSpPr>
        <p:spPr>
          <a:xfrm>
            <a:off x="457200" y="630936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Automotive stories. Shared curiosity. Lasting connections.</a:t>
            </a:r>
            <a:endParaRPr lang="en-US" sz="1100" dirty="0"/>
          </a:p>
        </p:txBody>
      </p:sp>
      <p:sp>
        <p:nvSpPr>
          <p:cNvPr id="38" name="Text 34"/>
          <p:cNvSpPr txBox="1"/>
          <p:nvPr/>
        </p:nvSpPr>
        <p:spPr>
          <a:xfrm>
            <a:off x="8046720" y="6053328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Asith Wijenayake / General Manager, Drive Hub Global</a:t>
            </a:r>
            <a:endParaRPr lang="en-US" sz="900" dirty="0"/>
          </a:p>
        </p:txBody>
      </p:sp>
      <p:sp>
        <p:nvSpPr>
          <p:cNvPr id="39" name="Text 35"/>
          <p:cNvSpPr txBox="1"/>
          <p:nvPr/>
        </p:nvSpPr>
        <p:spPr>
          <a:xfrm>
            <a:off x="8046720" y="6254496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07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asith@drivehub.lk</a:t>
            </a:r>
            <a:endParaRPr lang="en-US" sz="900" dirty="0"/>
          </a:p>
        </p:txBody>
      </p:sp>
      <p:sp>
        <p:nvSpPr>
          <p:cNvPr id="40" name="Text 36"/>
          <p:cNvSpPr txBox="1"/>
          <p:nvPr/>
        </p:nvSpPr>
        <p:spPr>
          <a:xfrm>
            <a:off x="457200" y="6656832"/>
            <a:ext cx="9144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Facebook preview counts, checked 23 Oct 2026. Figures are rounded and may change.</a:t>
            </a:r>
            <a:endParaRPr lang="en-US" sz="700" dirty="0"/>
          </a:p>
        </p:txBody>
      </p:sp>
      <p:sp>
        <p:nvSpPr>
          <p:cNvPr id="41" name="Text 37"/>
          <p:cNvSpPr txBox="1"/>
          <p:nvPr/>
        </p:nvSpPr>
        <p:spPr>
          <a:xfrm>
            <a:off x="9875520" y="6656832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11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riveHub AutoHub">
  <a:themeElements>
    <a:clrScheme name="DriveHub AutoHub">
      <a:dk1>
        <a:srgbClr val="1A1A1A"/>
      </a:dk1>
      <a:lt1>
        <a:srgbClr val="FFFFFF"/>
      </a:lt1>
      <a:dk2>
        <a:srgbClr val="3A3A3A"/>
      </a:dk2>
      <a:lt2>
        <a:srgbClr val="F5F0E8"/>
      </a:lt2>
      <a:accent1>
        <a:srgbClr val="F07F2A"/>
      </a:accent1>
      <a:accent2>
        <a:srgbClr val="2D2D2D"/>
      </a:accent2>
      <a:accent3>
        <a:srgbClr val="C0B8AA"/>
      </a:accent3>
      <a:accent4>
        <a:srgbClr val="E8E2D9"/>
      </a:accent4>
      <a:accent5>
        <a:srgbClr val="888888"/>
      </a:accent5>
      <a:accent6>
        <a:srgbClr val="F5821F"/>
      </a:accent6>
      <a:hlink>
        <a:srgbClr val="F07F2A"/>
      </a:hlink>
      <a:folHlink>
        <a:srgbClr val="C05A10"/>
      </a:folHlink>
    </a:clrScheme>
    <a:fontScheme name="DriveHub AutoHub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2026-10-28T07:48:13Z</dcterms:created>
  <dcterms:modified xsi:type="dcterms:W3CDTF">2026-10-28T07:48:13Z</dcterms:modified>
</cp:coreProperties>
</file>